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804" r:id="rId3"/>
    <p:sldId id="805" r:id="rId4"/>
    <p:sldId id="786" r:id="rId5"/>
    <p:sldId id="787" r:id="rId6"/>
    <p:sldId id="801" r:id="rId7"/>
    <p:sldId id="802" r:id="rId8"/>
    <p:sldId id="259" r:id="rId9"/>
    <p:sldId id="803" r:id="rId10"/>
    <p:sldId id="789" r:id="rId11"/>
    <p:sldId id="799" r:id="rId12"/>
    <p:sldId id="793" r:id="rId13"/>
    <p:sldId id="79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AA9E"/>
    <a:srgbClr val="F6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5"/>
    <p:restoredTop sz="62204"/>
  </p:normalViewPr>
  <p:slideViewPr>
    <p:cSldViewPr snapToGrid="0" snapToObjects="1">
      <p:cViewPr>
        <p:scale>
          <a:sx n="80" d="100"/>
          <a:sy n="80" d="100"/>
        </p:scale>
        <p:origin x="2576" y="2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789A23-E94A-8948-8C59-B01579E0DD2E}" type="datetimeFigureOut">
              <a:rPr lang="en-US" smtClean="0"/>
              <a:t>4/24/24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85811-C9C7-6946-B999-CBE6B26951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01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 you for this introduction </a:t>
            </a:r>
          </a:p>
          <a:p>
            <a:r>
              <a:rPr lang="en-US" dirty="0"/>
              <a:t>and</a:t>
            </a:r>
          </a:p>
          <a:p>
            <a:r>
              <a:rPr lang="en-US" dirty="0"/>
              <a:t>Thank you for inviting me to talk about the challenges</a:t>
            </a:r>
          </a:p>
          <a:p>
            <a:r>
              <a:rPr lang="en-US" dirty="0"/>
              <a:t> facing the Palestinian academia under the Israeli education </a:t>
            </a:r>
          </a:p>
          <a:p>
            <a:endParaRPr lang="en-US" dirty="0"/>
          </a:p>
          <a:p>
            <a:r>
              <a:rPr lang="en-US" dirty="0"/>
              <a:t>Before telling you our sad stories about the occupation and </a:t>
            </a:r>
          </a:p>
          <a:p>
            <a:r>
              <a:rPr lang="en-US" dirty="0"/>
              <a:t>the challenges we face,</a:t>
            </a:r>
          </a:p>
          <a:p>
            <a:r>
              <a:rPr lang="en-US" dirty="0"/>
              <a:t> and ((how (YOU) can help us))</a:t>
            </a:r>
          </a:p>
          <a:p>
            <a:endParaRPr lang="en-US" dirty="0"/>
          </a:p>
          <a:p>
            <a:r>
              <a:rPr lang="en-US" dirty="0"/>
              <a:t>I first show some positive stories. </a:t>
            </a:r>
          </a:p>
          <a:p>
            <a:r>
              <a:rPr lang="en-US" dirty="0"/>
              <a:t>I will show how I established a successful research lab </a:t>
            </a:r>
          </a:p>
          <a:p>
            <a:r>
              <a:rPr lang="en-US" dirty="0"/>
              <a:t>without money or resources.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85811-C9C7-6946-B999-CBE6B26951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93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of the major challenges we face (you can imagine its impact) is that</a:t>
            </a:r>
          </a:p>
          <a:p>
            <a:r>
              <a:rPr lang="en-US" dirty="0"/>
              <a:t>We're unable to hire external professors because Israel doesn't </a:t>
            </a:r>
          </a:p>
          <a:p>
            <a:r>
              <a:rPr lang="en-US" dirty="0"/>
              <a:t>issue long-term visas,  which restricts our ability to bring in </a:t>
            </a:r>
          </a:p>
          <a:p>
            <a:r>
              <a:rPr lang="en-US" dirty="0"/>
              <a:t>expertise from abroad and collaborate with academics internationally.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85811-C9C7-6946-B999-CBE6B26951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188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Another challenge </a:t>
            </a:r>
            <a:r>
              <a:rPr lang="en-US" dirty="0"/>
              <a:t>(you can imagine its </a:t>
            </a:r>
            <a:r>
              <a:rPr lang="en-US" b="0" i="0" dirty="0">
                <a:solidFill>
                  <a:srgbClr val="001D35"/>
                </a:solidFill>
                <a:effectLst/>
                <a:highlight>
                  <a:srgbClr val="FFFFFF"/>
                </a:highlight>
                <a:latin typeface="Google Sans"/>
              </a:rPr>
              <a:t>implication</a:t>
            </a:r>
            <a:r>
              <a:rPr lang="en-US" dirty="0"/>
              <a:t>) </a:t>
            </a:r>
            <a:r>
              <a:rPr lang="en-US" b="1" dirty="0"/>
              <a:t> is that</a:t>
            </a:r>
          </a:p>
          <a:p>
            <a:r>
              <a:rPr lang="en-US" b="1" dirty="0"/>
              <a:t>we have no or limited </a:t>
            </a:r>
            <a:r>
              <a:rPr lang="en-US" dirty="0"/>
              <a:t>financial resources or research funding.</a:t>
            </a:r>
          </a:p>
          <a:p>
            <a:r>
              <a:rPr lang="en-US" dirty="0"/>
              <a:t>And thus</a:t>
            </a:r>
          </a:p>
          <a:p>
            <a:r>
              <a:rPr lang="en-US" dirty="0"/>
              <a:t>we have no or very limited access to academic journals, books, resources, cloud and GPUs, dataset,  …</a:t>
            </a:r>
          </a:p>
          <a:p>
            <a:r>
              <a:rPr lang="en-US" dirty="0"/>
              <a:t>we have very limited funding to travel conferences …..</a:t>
            </a:r>
          </a:p>
          <a:p>
            <a:endParaRPr lang="en-P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85811-C9C7-6946-B999-CBE6B26951B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98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A more visible and more direct challenge for Palestinian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academia is the mobility restrictions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chemeClr val="bg1"/>
                </a:solidFill>
              </a:rPr>
              <a:t>Staff and Students cannot make it on 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often delayed by checkpoints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/>
              <a:t>Imagine you are giving a lecture/exam, and many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/>
              <a:t>students do not come, or come late!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This disrupts our educational schedules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/>
          </a:p>
          <a:p>
            <a:endParaRPr lang="en-P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85811-C9C7-6946-B999-CBE6B26951B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772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S" dirty="0"/>
              <a:t>Extremlly diffecuclt to travel between scities – or from town to a city </a:t>
            </a:r>
          </a:p>
          <a:p>
            <a:r>
              <a:rPr lang="en-PS" dirty="0"/>
              <a:t>There are different types of  blokades and checkpoits (perminant,  temporal, </a:t>
            </a:r>
            <a:r>
              <a:rPr lang="en-US" b="0" i="0" dirty="0">
                <a:solidFill>
                  <a:srgbClr val="4A4A4A"/>
                </a:solidFill>
                <a:effectLst/>
                <a:latin typeface="Roboto" panose="02000000000000000000" pitchFamily="2" charset="0"/>
              </a:rPr>
              <a:t>occasional, </a:t>
            </a:r>
            <a:r>
              <a:rPr lang="en-US" b="0" i="0" dirty="0" err="1">
                <a:solidFill>
                  <a:srgbClr val="4A4A4A"/>
                </a:solidFill>
                <a:effectLst/>
                <a:latin typeface="Roboto" panose="02000000000000000000" pitchFamily="2" charset="0"/>
              </a:rPr>
              <a:t>etc</a:t>
            </a:r>
            <a:r>
              <a:rPr lang="en-US" b="0" i="0" dirty="0">
                <a:solidFill>
                  <a:srgbClr val="4A4A4A"/>
                </a:solidFill>
                <a:effectLst/>
                <a:latin typeface="Roboto" panose="02000000000000000000" pitchFamily="2" charset="0"/>
              </a:rPr>
              <a:t>)</a:t>
            </a:r>
          </a:p>
          <a:p>
            <a:r>
              <a:rPr lang="en-US" b="0" i="0" dirty="0">
                <a:solidFill>
                  <a:srgbClr val="4A4A4A"/>
                </a:solidFill>
                <a:effectLst/>
                <a:latin typeface="Roboto" panose="02000000000000000000" pitchFamily="2" charset="0"/>
              </a:rPr>
              <a:t>The goal of the </a:t>
            </a:r>
            <a:r>
              <a:rPr lang="en-PS" dirty="0"/>
              <a:t>checkpoits </a:t>
            </a:r>
            <a:r>
              <a:rPr lang="en-US" b="0" i="0" dirty="0">
                <a:solidFill>
                  <a:srgbClr val="4A4A4A"/>
                </a:solidFill>
                <a:effectLst/>
                <a:latin typeface="Roboto" panose="02000000000000000000" pitchFamily="2" charset="0"/>
              </a:rPr>
              <a:t>is not security but rather, a humiliation specially for students and young man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85811-C9C7-6946-B999-CBE6B26951B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44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S" dirty="0"/>
              <a:t>the complexity is also when we traval confernces and meetings</a:t>
            </a:r>
          </a:p>
          <a:p>
            <a:r>
              <a:rPr lang="en-PS" dirty="0"/>
              <a:t>we have to travel to jordan or egypt to fly from there </a:t>
            </a:r>
          </a:p>
          <a:p>
            <a:r>
              <a:rPr lang="en-PS" dirty="0"/>
              <a:t>(the border are mostly close of very crowded)</a:t>
            </a:r>
          </a:p>
          <a:p>
            <a:endParaRPr lang="en-PS" dirty="0"/>
          </a:p>
          <a:p>
            <a:r>
              <a:rPr lang="en-PS" dirty="0"/>
              <a:t>and you can imagine the impact (time, cost, security ...) </a:t>
            </a:r>
          </a:p>
          <a:p>
            <a:r>
              <a:rPr lang="en-PS" dirty="0"/>
              <a:t>and makes it diffecult for people to cooperate with us</a:t>
            </a:r>
          </a:p>
          <a:p>
            <a:endParaRPr lang="en-P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85811-C9C7-6946-B999-CBE6B26951B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33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Academic freedom for the Palestinian academia, is a big issue because of Israeli restrictions.</a:t>
            </a:r>
          </a:p>
          <a:p>
            <a:endParaRPr lang="en-US" dirty="0"/>
          </a:p>
          <a:p>
            <a:r>
              <a:rPr lang="en-US" dirty="0"/>
              <a:t> Some academics have ended up in jail for speaking out, even on social media.</a:t>
            </a:r>
          </a:p>
          <a:p>
            <a:endParaRPr lang="en-US" dirty="0"/>
          </a:p>
          <a:p>
            <a:r>
              <a:rPr lang="en-US" dirty="0"/>
              <a:t>On top of that, Palestinian scholars face bias in the academic world, with some journals </a:t>
            </a:r>
          </a:p>
          <a:p>
            <a:r>
              <a:rPr lang="en-US" dirty="0"/>
              <a:t>refusing papers from Palestine.</a:t>
            </a:r>
            <a:endParaRPr lang="en-P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85811-C9C7-6946-B999-CBE6B26951B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73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Brain drain is a serious issue in the Palestinian Academia. </a:t>
            </a:r>
          </a:p>
          <a:p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Unfortunately, insecurity and political and social restrictions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drive skilled academics to leave the country</a:t>
            </a:r>
          </a:p>
          <a:p>
            <a:endParaRPr lang="en-US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This currently a very serious issue in Gaza, 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and you can imagine how the education sector without professors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and established academics.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85811-C9C7-6946-B999-CBE6B26951B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283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S" dirty="0"/>
              <a:t>The situation is Gaza is not like the situation in Webst Bank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P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S" dirty="0"/>
              <a:t>In West Bank we talk about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serious threats and challenges </a:t>
            </a:r>
          </a:p>
          <a:p>
            <a:r>
              <a:rPr lang="en-PS" dirty="0"/>
              <a:t>In Gaza we talk about total Educide:</a:t>
            </a:r>
          </a:p>
          <a:p>
            <a:endParaRPr lang="en-PS" dirty="0"/>
          </a:p>
          <a:p>
            <a:r>
              <a:rPr lang="en-US" dirty="0">
                <a:effectLst/>
              </a:rPr>
              <a:t>Intentionally destroying all universities and killing academics and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85811-C9C7-6946-B999-CBE6B26951B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90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S" dirty="0"/>
              <a:t>I am sure each of you might be thinking about how </a:t>
            </a:r>
          </a:p>
          <a:p>
            <a:r>
              <a:rPr lang="en-PS" dirty="0"/>
              <a:t>to help the Palestinian Academia</a:t>
            </a:r>
          </a:p>
          <a:p>
            <a:endParaRPr lang="en-PS" dirty="0"/>
          </a:p>
          <a:p>
            <a:r>
              <a:rPr lang="en-PS" dirty="0"/>
              <a:t>The priority of help should go first to the acadmia Gaza and Jerusalem </a:t>
            </a:r>
          </a:p>
          <a:p>
            <a:endParaRPr lang="en-PS" dirty="0"/>
          </a:p>
          <a:p>
            <a:r>
              <a:rPr lang="en-PS" dirty="0"/>
              <a:t>these are some suggestions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85811-C9C7-6946-B999-CBE6B26951B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17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56CF-82D8-594B-A7AD-1E094C2AAFD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6764C-66F8-2A40-971D-49D0C3543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085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56CF-82D8-594B-A7AD-1E094C2AAFD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6764C-66F8-2A40-971D-49D0C3543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25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56CF-82D8-594B-A7AD-1E094C2AAFD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6764C-66F8-2A40-971D-49D0C3543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2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56CF-82D8-594B-A7AD-1E094C2AAFD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6764C-66F8-2A40-971D-49D0C3543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41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56CF-82D8-594B-A7AD-1E094C2AAFD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6764C-66F8-2A40-971D-49D0C3543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92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56CF-82D8-594B-A7AD-1E094C2AAFD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6764C-66F8-2A40-971D-49D0C3543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89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56CF-82D8-594B-A7AD-1E094C2AAFD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6764C-66F8-2A40-971D-49D0C3543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831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56CF-82D8-594B-A7AD-1E094C2AAFD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6764C-66F8-2A40-971D-49D0C3543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7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56CF-82D8-594B-A7AD-1E094C2AAFD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6764C-66F8-2A40-971D-49D0C3543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49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56CF-82D8-594B-A7AD-1E094C2AAFD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6764C-66F8-2A40-971D-49D0C3543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06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56CF-82D8-594B-A7AD-1E094C2AAFD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6764C-66F8-2A40-971D-49D0C3543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439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156CF-82D8-594B-A7AD-1E094C2AAFD3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6764C-66F8-2A40-971D-49D0C35437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395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hchr.org/en/press-releases/2024/04/un-experts-deeply-concerned-over-scholasticide-gaza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0AF3-E12F-D142-857B-123F27BFBE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24720"/>
            <a:ext cx="9144000" cy="2770259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2"/>
                </a:solidFill>
                <a:latin typeface="A_Nefel_Sereke_Qelew" panose="02010000000000000000" pitchFamily="2" charset="-78"/>
                <a:cs typeface="A_Nefel_Sereke_Qelew" panose="02010000000000000000" pitchFamily="2" charset="-78"/>
              </a:rPr>
              <a:t>Stories of </a:t>
            </a:r>
            <a:br>
              <a:rPr lang="en-US" sz="4800" b="1" dirty="0">
                <a:solidFill>
                  <a:schemeClr val="accent2"/>
                </a:solidFill>
                <a:latin typeface="A_Nefel_Sereke_Qelew" panose="02010000000000000000" pitchFamily="2" charset="-78"/>
                <a:cs typeface="A_Nefel_Sereke_Qelew" panose="02010000000000000000" pitchFamily="2" charset="-78"/>
              </a:rPr>
            </a:br>
            <a:r>
              <a:rPr lang="en-US" sz="4800" b="1" dirty="0">
                <a:solidFill>
                  <a:srgbClr val="02AA9E"/>
                </a:solidFill>
                <a:latin typeface="A_Nefel_Sereke_Qelew" panose="02010000000000000000" pitchFamily="2" charset="-78"/>
                <a:cs typeface="A_Nefel_Sereke_Qelew" panose="02010000000000000000" pitchFamily="2" charset="-78"/>
              </a:rPr>
              <a:t>Research and Education under Israeli Occupation</a:t>
            </a:r>
            <a:endParaRPr lang="en-US" sz="4000" dirty="0">
              <a:solidFill>
                <a:srgbClr val="F693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B853A2-B85F-7247-938F-81A460E7D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435" y="5473315"/>
            <a:ext cx="6858000" cy="1241822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Mustafa Jarrar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Birzeit University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Palestine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D60052-600A-D94E-BCBF-D16DBD24B9D7}"/>
              </a:ext>
            </a:extLst>
          </p:cNvPr>
          <p:cNvSpPr/>
          <p:nvPr/>
        </p:nvSpPr>
        <p:spPr>
          <a:xfrm>
            <a:off x="3414630" y="207830"/>
            <a:ext cx="55649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system-ui"/>
            </a:endParaRPr>
          </a:p>
          <a:p>
            <a:pPr algn="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system-ui"/>
              </a:rPr>
              <a:t>24/4/2024</a:t>
            </a:r>
          </a:p>
        </p:txBody>
      </p:sp>
    </p:spTree>
    <p:extLst>
      <p:ext uri="{BB962C8B-B14F-4D97-AF65-F5344CB8AC3E}">
        <p14:creationId xmlns:p14="http://schemas.microsoft.com/office/powerpoint/2010/main" val="1263529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EA2D-E5BD-EEAC-5D83-71C60CF63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S" sz="4800" b="1" dirty="0"/>
              <a:t>Content</a:t>
            </a:r>
            <a:endParaRPr lang="en-P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F40F3-93BB-01B1-E1AA-2A4572A9F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9570" y="1825625"/>
            <a:ext cx="5627915" cy="4351338"/>
          </a:xfrm>
        </p:spPr>
        <p:txBody>
          <a:bodyPr/>
          <a:lstStyle/>
          <a:p>
            <a:r>
              <a:rPr lang="en-PS" dirty="0"/>
              <a:t>The story of my research lab </a:t>
            </a:r>
          </a:p>
          <a:p>
            <a:endParaRPr lang="en-PS" dirty="0"/>
          </a:p>
          <a:p>
            <a:r>
              <a:rPr lang="en-US" dirty="0"/>
              <a:t>Challenges facing us</a:t>
            </a:r>
          </a:p>
          <a:p>
            <a:endParaRPr lang="en-US" dirty="0"/>
          </a:p>
          <a:p>
            <a:r>
              <a:rPr lang="en-US" dirty="0"/>
              <a:t>W</a:t>
            </a:r>
            <a:r>
              <a:rPr lang="en-PS" dirty="0"/>
              <a:t>ays to help usa</a:t>
            </a:r>
          </a:p>
        </p:txBody>
      </p:sp>
    </p:spTree>
    <p:extLst>
      <p:ext uri="{BB962C8B-B14F-4D97-AF65-F5344CB8AC3E}">
        <p14:creationId xmlns:p14="http://schemas.microsoft.com/office/powerpoint/2010/main" val="1411061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E769BB-4C19-241A-A5BA-6BB25861D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085" y="772112"/>
            <a:ext cx="4271827" cy="25057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209109-361D-1F7B-C48F-9165DFB5E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086" y="3277908"/>
            <a:ext cx="4271827" cy="34517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E67230-3B8B-D8B1-C282-C8696C8A7BB8}"/>
              </a:ext>
            </a:extLst>
          </p:cNvPr>
          <p:cNvSpPr txBox="1"/>
          <p:nvPr/>
        </p:nvSpPr>
        <p:spPr>
          <a:xfrm>
            <a:off x="3136231" y="12833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S" dirty="0"/>
              <a:t>https://sina.birzeit.edu/</a:t>
            </a:r>
          </a:p>
        </p:txBody>
      </p:sp>
    </p:spTree>
    <p:extLst>
      <p:ext uri="{BB962C8B-B14F-4D97-AF65-F5344CB8AC3E}">
        <p14:creationId xmlns:p14="http://schemas.microsoft.com/office/powerpoint/2010/main" val="2860952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385E-EA25-F44F-B68E-31DCDA062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59243"/>
          </a:xfrm>
          <a:solidFill>
            <a:srgbClr val="F69300"/>
          </a:solidFill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Cannot recruit external professors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161C68-6B28-C740-A645-DC91676FB90B}"/>
              </a:ext>
            </a:extLst>
          </p:cNvPr>
          <p:cNvSpPr txBox="1"/>
          <p:nvPr/>
        </p:nvSpPr>
        <p:spPr>
          <a:xfrm>
            <a:off x="0" y="1409033"/>
            <a:ext cx="9143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2AA9E"/>
                </a:solidFill>
              </a:rPr>
              <a:t>Israel does not give permission or long term VISAs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6FA0D4-1FF5-BD41-A1D8-6297FE7E0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53469">
            <a:off x="256543" y="2153680"/>
            <a:ext cx="5215986" cy="4300496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29E202-A0E5-A94E-BA6B-D51694C75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876869">
            <a:off x="1334529" y="2668733"/>
            <a:ext cx="6145392" cy="4078249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E47BA3-367A-B846-85BA-755D73B9A2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759521">
            <a:off x="4227200" y="3192867"/>
            <a:ext cx="4956707" cy="4987304"/>
          </a:xfrm>
          <a:prstGeom prst="rect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82964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22840-EAF0-7E40-8A07-6E8C04B6B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225240"/>
          </a:xfrm>
          <a:solidFill>
            <a:srgbClr val="F69300"/>
          </a:solidFill>
        </p:spPr>
        <p:txBody>
          <a:bodyPr>
            <a:normAutofit fontScale="90000"/>
          </a:bodyPr>
          <a:lstStyle/>
          <a:p>
            <a:pPr algn="ctr" fontAlgn="base"/>
            <a:r>
              <a:rPr lang="en-US" b="1" i="0" dirty="0">
                <a:solidFill>
                  <a:schemeClr val="bg1"/>
                </a:solidFill>
                <a:effectLst/>
                <a:latin typeface="Söhne"/>
              </a:rPr>
              <a:t>Resource Limitations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No Research Funding programs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2E6212-1AE6-884E-92CD-B18BD603B5EF}"/>
              </a:ext>
            </a:extLst>
          </p:cNvPr>
          <p:cNvSpPr/>
          <p:nvPr/>
        </p:nvSpPr>
        <p:spPr>
          <a:xfrm>
            <a:off x="435430" y="1432651"/>
            <a:ext cx="87085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Palestine is an authority (not a state) and has no financial resources.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320C57-EF0B-C843-9467-2D62703C5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001" y="2101726"/>
            <a:ext cx="4751364" cy="29603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DD789D-C452-73E3-53A2-3604B9322854}"/>
              </a:ext>
            </a:extLst>
          </p:cNvPr>
          <p:cNvSpPr txBox="1"/>
          <p:nvPr/>
        </p:nvSpPr>
        <p:spPr>
          <a:xfrm>
            <a:off x="435430" y="5312531"/>
            <a:ext cx="870857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/>
            </a:lvl1pPr>
          </a:lstStyle>
          <a:p>
            <a:r>
              <a:rPr lang="en-US" sz="2400" dirty="0"/>
              <a:t>Difficult for universities to maintain adequate funding for research.</a:t>
            </a:r>
          </a:p>
          <a:p>
            <a:pPr algn="ctr"/>
            <a:r>
              <a:rPr lang="en-US" sz="2000" b="0" i="0" dirty="0">
                <a:effectLst/>
                <a:highlight>
                  <a:srgbClr val="FFFFFF"/>
                </a:highlight>
                <a:latin typeface="Söhne"/>
              </a:rPr>
              <a:t>Very limited access to academic journals, books, and resources, GPUs, data …</a:t>
            </a:r>
          </a:p>
          <a:p>
            <a:pPr algn="ctr"/>
            <a:r>
              <a:rPr lang="en-US" sz="2000" dirty="0">
                <a:highlight>
                  <a:srgbClr val="FFFFFF"/>
                </a:highlight>
                <a:latin typeface="Söhne"/>
              </a:rPr>
              <a:t>No funding to travel conferences …..</a:t>
            </a:r>
            <a:endParaRPr lang="en-PS" sz="2000" dirty="0"/>
          </a:p>
          <a:p>
            <a:endParaRPr lang="en-PS" sz="2400" dirty="0"/>
          </a:p>
        </p:txBody>
      </p:sp>
    </p:spTree>
    <p:extLst>
      <p:ext uri="{BB962C8B-B14F-4D97-AF65-F5344CB8AC3E}">
        <p14:creationId xmlns:p14="http://schemas.microsoft.com/office/powerpoint/2010/main" val="1641631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A4706-CAD8-ED45-9721-AA8DBAE8B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240970"/>
          </a:xfrm>
          <a:solidFill>
            <a:srgbClr val="F69300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Restrictions on Movement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Israeli forces close military checkpoints near Tulkarem, obstruct  Palestinians' movement">
            <a:extLst>
              <a:ext uri="{FF2B5EF4-FFF2-40B4-BE49-F238E27FC236}">
                <a16:creationId xmlns:a16="http://schemas.microsoft.com/office/drawing/2014/main" id="{C76CF3D4-BF2C-0FBF-6F2E-135C234AE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4688" y="1464944"/>
            <a:ext cx="4656688" cy="3106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9602A6-309B-AEAE-D397-1F171C3B67AB}"/>
              </a:ext>
            </a:extLst>
          </p:cNvPr>
          <p:cNvSpPr/>
          <p:nvPr/>
        </p:nvSpPr>
        <p:spPr>
          <a:xfrm>
            <a:off x="223527" y="5315493"/>
            <a:ext cx="869694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Students and researchers </a:t>
            </a:r>
            <a:r>
              <a:rPr lang="en-US" sz="2000" dirty="0"/>
              <a:t>are often delayed by checkpoints and </a:t>
            </a: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roadblocks.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Leave home very early, and come back very late (very disturbing)!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Disrupts educational schedules</a:t>
            </a: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4FC585-F41B-46E0-09A4-E17C57728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42507"/>
            <a:ext cx="4552258" cy="302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748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>
            <a:extLst>
              <a:ext uri="{FF2B5EF4-FFF2-40B4-BE49-F238E27FC236}">
                <a16:creationId xmlns:a16="http://schemas.microsoft.com/office/drawing/2014/main" id="{B3C9FFA7-2A80-5D3C-E0CC-0E8BFB084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660" y="1009477"/>
            <a:ext cx="4350676" cy="5972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BFD3064-5C89-DA5B-0E63-BC51C551F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240970"/>
          </a:xfrm>
          <a:solidFill>
            <a:srgbClr val="F69300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Restrictions on Movement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FB0CF8-0185-D6D5-0BF1-1623D760C6C5}"/>
              </a:ext>
            </a:extLst>
          </p:cNvPr>
          <p:cNvSpPr txBox="1"/>
          <p:nvPr/>
        </p:nvSpPr>
        <p:spPr>
          <a:xfrm>
            <a:off x="0" y="6488668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S" sz="800" dirty="0"/>
              <a:t>https://www.ochaopt.org/2023-movement</a:t>
            </a:r>
          </a:p>
        </p:txBody>
      </p:sp>
    </p:spTree>
    <p:extLst>
      <p:ext uri="{BB962C8B-B14F-4D97-AF65-F5344CB8AC3E}">
        <p14:creationId xmlns:p14="http://schemas.microsoft.com/office/powerpoint/2010/main" val="1474988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A4706-CAD8-ED45-9721-AA8DBAE8B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240970"/>
          </a:xfrm>
          <a:solidFill>
            <a:srgbClr val="F69300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When traveling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sz="4000" b="1" dirty="0">
                <a:solidFill>
                  <a:schemeClr val="bg1"/>
                </a:solidFill>
              </a:rPr>
              <a:t>for conferences and meetings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5EA800-8971-784B-934F-A62E3F75F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070" y="1454153"/>
            <a:ext cx="4707912" cy="28130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3560B2-04CD-6B45-93FE-A00427C57DC3}"/>
              </a:ext>
            </a:extLst>
          </p:cNvPr>
          <p:cNvSpPr txBox="1"/>
          <p:nvPr/>
        </p:nvSpPr>
        <p:spPr>
          <a:xfrm>
            <a:off x="410967" y="4416700"/>
            <a:ext cx="87330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travel to Jordan/Egypt and fly from there (mostly closed,).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Extra time!    extra cost!    Extra security checks and humiliation!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algn="ctr"/>
            <a:r>
              <a:rPr lang="en-US" sz="2400" dirty="0">
                <a:solidFill>
                  <a:srgbClr val="02AA9E"/>
                </a:solidFill>
              </a:rPr>
              <a:t>Impact not only on Palestinian scientists, </a:t>
            </a:r>
          </a:p>
          <a:p>
            <a:pPr algn="ctr"/>
            <a:r>
              <a:rPr lang="en-US" sz="2400" dirty="0">
                <a:solidFill>
                  <a:srgbClr val="02AA9E"/>
                </a:solidFill>
              </a:rPr>
              <a:t>but others avoid partnering with us! </a:t>
            </a:r>
          </a:p>
        </p:txBody>
      </p:sp>
    </p:spTree>
    <p:extLst>
      <p:ext uri="{BB962C8B-B14F-4D97-AF65-F5344CB8AC3E}">
        <p14:creationId xmlns:p14="http://schemas.microsoft.com/office/powerpoint/2010/main" val="2540070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22840-EAF0-7E40-8A07-6E8C04B6B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25240"/>
          </a:xfrm>
          <a:solidFill>
            <a:srgbClr val="F69300"/>
          </a:solidFill>
        </p:spPr>
        <p:txBody>
          <a:bodyPr>
            <a:normAutofit/>
          </a:bodyPr>
          <a:lstStyle/>
          <a:p>
            <a:pPr algn="ctr" fontAlgn="base"/>
            <a:r>
              <a:rPr lang="en-US" b="1" dirty="0">
                <a:solidFill>
                  <a:schemeClr val="bg1"/>
                </a:solidFill>
              </a:rPr>
              <a:t>Academic Freedom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90155E-7020-FB84-A491-35D5CDFE7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89056">
            <a:off x="-91049" y="3590779"/>
            <a:ext cx="2658642" cy="34212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D63C16-3545-1BAF-334B-896D80BAF32F}"/>
              </a:ext>
            </a:extLst>
          </p:cNvPr>
          <p:cNvSpPr txBox="1"/>
          <p:nvPr/>
        </p:nvSpPr>
        <p:spPr>
          <a:xfrm>
            <a:off x="442959" y="1356409"/>
            <a:ext cx="87010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b="1" i="0" dirty="0">
                <a:solidFill>
                  <a:srgbClr val="02AA9E"/>
                </a:solidFill>
                <a:effectLst/>
                <a:highlight>
                  <a:srgbClr val="FFFFFF"/>
                </a:highlight>
                <a:latin typeface="Söhne"/>
              </a:rPr>
              <a:t>limitations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4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by Israel,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on research topics, publications, and expressing </a:t>
            </a:r>
            <a:r>
              <a:rPr lang="en-US" sz="24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opinions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2AA9E"/>
                </a:solidFill>
                <a:highlight>
                  <a:srgbClr val="FFFFFF"/>
                </a:highlight>
                <a:latin typeface="Söhne"/>
              </a:rPr>
              <a:t>Academic Bias,</a:t>
            </a:r>
            <a:r>
              <a:rPr lang="en-US" sz="2400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 in some academic journals and communities. </a:t>
            </a:r>
            <a:endParaRPr lang="en-US" sz="24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7F7894-39A5-1C76-F350-DB39A0DBB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19353">
            <a:off x="6446769" y="3992418"/>
            <a:ext cx="2034900" cy="4151493"/>
          </a:xfrm>
          <a:prstGeom prst="rect">
            <a:avLst/>
          </a:prstGeom>
        </p:spPr>
      </p:pic>
      <p:pic>
        <p:nvPicPr>
          <p:cNvPr id="3074" name="Picture 2" descr="Event poster">
            <a:extLst>
              <a:ext uri="{FF2B5EF4-FFF2-40B4-BE49-F238E27FC236}">
                <a16:creationId xmlns:a16="http://schemas.microsoft.com/office/drawing/2014/main" id="{2F953447-1E42-1BED-B56A-2E964C5BB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07521">
            <a:off x="3513351" y="4217305"/>
            <a:ext cx="2273608" cy="294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28C14B-E7B6-D079-EECE-1C71590857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690" y="5315372"/>
            <a:ext cx="4308796" cy="29349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E9E070-C9A0-DD22-20A7-91051D849E85}"/>
              </a:ext>
            </a:extLst>
          </p:cNvPr>
          <p:cNvSpPr txBox="1"/>
          <p:nvPr/>
        </p:nvSpPr>
        <p:spPr>
          <a:xfrm>
            <a:off x="0" y="845111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الحرية الأكاديمية</a:t>
            </a:r>
            <a:endParaRPr lang="en-PS" sz="2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843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F4081-9AFA-2049-AA2F-A46E2B5BE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59243"/>
          </a:xfrm>
          <a:solidFill>
            <a:srgbClr val="F69300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</a:rPr>
              <a:t>Academic Brain Drain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63059C-1A8E-8B43-A33E-DB2428E1480D}"/>
              </a:ext>
            </a:extLst>
          </p:cNvPr>
          <p:cNvSpPr/>
          <p:nvPr/>
        </p:nvSpPr>
        <p:spPr>
          <a:xfrm>
            <a:off x="685800" y="1607977"/>
            <a:ext cx="7772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113" algn="ctr"/>
            <a:r>
              <a:rPr lang="en-US" sz="2400" dirty="0">
                <a:solidFill>
                  <a:srgbClr val="02AA9E"/>
                </a:solidFill>
              </a:rPr>
              <a:t>Academics  are pushed to leave (especially in Gaza)</a:t>
            </a:r>
          </a:p>
          <a:p>
            <a:pPr marL="11113" algn="ctr"/>
            <a:r>
              <a:rPr lang="en-US" sz="2400" dirty="0">
                <a:solidFill>
                  <a:srgbClr val="02AA9E"/>
                </a:solidFill>
              </a:rPr>
              <a:t>weakening the local research and</a:t>
            </a:r>
          </a:p>
          <a:p>
            <a:pPr marL="11113" algn="ctr"/>
            <a:r>
              <a:rPr lang="en-US" sz="2400" dirty="0">
                <a:solidFill>
                  <a:srgbClr val="02AA9E"/>
                </a:solidFill>
              </a:rPr>
              <a:t> education sector.</a:t>
            </a:r>
            <a:endParaRPr lang="en-PS" sz="2400" dirty="0">
              <a:solidFill>
                <a:srgbClr val="02AA9E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A7013A-DA0F-624C-AA18-01F69A69F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390" y="2808306"/>
            <a:ext cx="7794376" cy="38971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C09535-EDC4-CC1E-471A-34C244945AB2}"/>
              </a:ext>
            </a:extLst>
          </p:cNvPr>
          <p:cNvSpPr txBox="1"/>
          <p:nvPr/>
        </p:nvSpPr>
        <p:spPr>
          <a:xfrm>
            <a:off x="0" y="95439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هجرة  العلماء</a:t>
            </a:r>
            <a:endParaRPr lang="en-PS" sz="2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004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EBD70-0E46-19DB-263F-69EA34305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solidFill>
            <a:schemeClr val="tx1"/>
          </a:solidFill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482A7E-A460-58CA-1470-ED8EC80D1C94}"/>
              </a:ext>
            </a:extLst>
          </p:cNvPr>
          <p:cNvSpPr txBox="1"/>
          <p:nvPr/>
        </p:nvSpPr>
        <p:spPr>
          <a:xfrm>
            <a:off x="538030" y="2186554"/>
            <a:ext cx="3116751" cy="2985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0" dirty="0">
                <a:solidFill>
                  <a:schemeClr val="bg1"/>
                </a:solidFill>
                <a:effectLst/>
              </a:rPr>
              <a:t>killed</a:t>
            </a:r>
            <a:endParaRPr lang="en-US" sz="2000" b="1" i="0" dirty="0">
              <a:solidFill>
                <a:schemeClr val="bg1"/>
              </a:solidFill>
              <a:effectLst/>
            </a:endParaRPr>
          </a:p>
          <a:p>
            <a:r>
              <a:rPr lang="en-US" sz="2000" b="0" i="0" dirty="0">
                <a:solidFill>
                  <a:schemeClr val="bg1"/>
                </a:solidFill>
                <a:effectLst/>
              </a:rPr>
              <a:t>5,479 students </a:t>
            </a:r>
          </a:p>
          <a:p>
            <a:r>
              <a:rPr lang="en-US" sz="2000" b="0" i="0" dirty="0">
                <a:solidFill>
                  <a:schemeClr val="bg1"/>
                </a:solidFill>
                <a:effectLst/>
              </a:rPr>
              <a:t>   261 teachers</a:t>
            </a:r>
          </a:p>
          <a:p>
            <a:r>
              <a:rPr lang="en-US" sz="2000" b="0" i="0" dirty="0">
                <a:solidFill>
                  <a:schemeClr val="bg1"/>
                </a:solidFill>
                <a:effectLst/>
              </a:rPr>
              <a:t>     95 university professors,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 3 university presidents </a:t>
            </a:r>
            <a:r>
              <a:rPr lang="en-US" sz="2000" b="0" i="0" dirty="0">
                <a:solidFill>
                  <a:schemeClr val="bg1"/>
                </a:solidFill>
                <a:effectLst/>
              </a:rPr>
              <a:t> 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400" b="1" i="0" dirty="0">
                <a:solidFill>
                  <a:schemeClr val="bg1"/>
                </a:solidFill>
                <a:effectLst/>
              </a:rPr>
              <a:t>injured</a:t>
            </a:r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0" i="0" dirty="0">
                <a:solidFill>
                  <a:schemeClr val="bg1"/>
                </a:solidFill>
                <a:effectLst/>
              </a:rPr>
              <a:t>7,819 students </a:t>
            </a:r>
          </a:p>
          <a:p>
            <a:r>
              <a:rPr lang="en-US" sz="2000" b="0" i="0" dirty="0">
                <a:solidFill>
                  <a:schemeClr val="bg1"/>
                </a:solidFill>
                <a:effectLst/>
              </a:rPr>
              <a:t>   756 teachers</a:t>
            </a:r>
            <a:endParaRPr lang="en-PS" sz="20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31145-DC77-B993-2B27-E704344CAD4C}"/>
              </a:ext>
            </a:extLst>
          </p:cNvPr>
          <p:cNvSpPr txBox="1"/>
          <p:nvPr/>
        </p:nvSpPr>
        <p:spPr>
          <a:xfrm>
            <a:off x="4029569" y="4414795"/>
            <a:ext cx="54504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chemeClr val="bg1"/>
                </a:solidFill>
                <a:effectLst/>
              </a:rPr>
              <a:t>625,000 students have no access to education</a:t>
            </a:r>
            <a:endParaRPr lang="en-PS" sz="20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068939-1D24-CE41-AC5D-ADC6CB5EEBCF}"/>
              </a:ext>
            </a:extLst>
          </p:cNvPr>
          <p:cNvSpPr txBox="1"/>
          <p:nvPr/>
        </p:nvSpPr>
        <p:spPr>
          <a:xfrm>
            <a:off x="4029569" y="2202524"/>
            <a:ext cx="504251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dirty="0">
                <a:solidFill>
                  <a:schemeClr val="bg1"/>
                </a:solidFill>
                <a:effectLst/>
              </a:rPr>
              <a:t>Destroyed: </a:t>
            </a:r>
          </a:p>
          <a:p>
            <a:r>
              <a:rPr lang="en-US" sz="2000" b="0" i="0" dirty="0">
                <a:solidFill>
                  <a:schemeClr val="bg1"/>
                </a:solidFill>
                <a:effectLst/>
              </a:rPr>
              <a:t>195 Heritage sites</a:t>
            </a:r>
          </a:p>
          <a:p>
            <a:r>
              <a:rPr lang="en-US" sz="2000" b="0" i="0" dirty="0">
                <a:solidFill>
                  <a:schemeClr val="bg1"/>
                </a:solidFill>
                <a:effectLst/>
              </a:rPr>
              <a:t>227 Mosques </a:t>
            </a:r>
          </a:p>
          <a:p>
            <a:r>
              <a:rPr lang="en-US" sz="2000" b="0" i="0" dirty="0">
                <a:solidFill>
                  <a:schemeClr val="bg1"/>
                </a:solidFill>
                <a:effectLst/>
              </a:rPr>
              <a:t>     3 churches</a:t>
            </a:r>
          </a:p>
          <a:p>
            <a:r>
              <a:rPr lang="en-US" sz="2000" b="0" i="0" dirty="0">
                <a:solidFill>
                  <a:schemeClr val="bg1"/>
                </a:solidFill>
                <a:effectLst/>
              </a:rPr>
              <a:t>60% educational facilities (all/17 universities, 80% of schools in Gaza)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A40F48-E327-E3B8-1F67-4CB277784C7B}"/>
              </a:ext>
            </a:extLst>
          </p:cNvPr>
          <p:cNvSpPr txBox="1"/>
          <p:nvPr/>
        </p:nvSpPr>
        <p:spPr>
          <a:xfrm>
            <a:off x="410966" y="399006"/>
            <a:ext cx="83220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 err="1">
                <a:solidFill>
                  <a:schemeClr val="bg1"/>
                </a:solidFill>
                <a:effectLst/>
              </a:rPr>
              <a:t>Educide</a:t>
            </a:r>
            <a:r>
              <a:rPr lang="en-US" sz="4000" b="1" i="0" dirty="0">
                <a:solidFill>
                  <a:schemeClr val="bg1"/>
                </a:solidFill>
                <a:effectLst/>
              </a:rPr>
              <a:t> in Gaza</a:t>
            </a:r>
          </a:p>
          <a:p>
            <a:pPr algn="ctr"/>
            <a:r>
              <a:rPr lang="en-US" sz="2000" b="0" i="0" dirty="0">
                <a:solidFill>
                  <a:schemeClr val="bg1"/>
                </a:solidFill>
                <a:effectLst/>
              </a:rPr>
              <a:t>deliberately targeting universities and academics in Gaza </a:t>
            </a:r>
            <a:endParaRPr lang="en-PS" sz="20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8522FA-A5E4-CB7F-8CB7-7E0C7ACAF4FA}"/>
              </a:ext>
            </a:extLst>
          </p:cNvPr>
          <p:cNvSpPr txBox="1"/>
          <p:nvPr/>
        </p:nvSpPr>
        <p:spPr>
          <a:xfrm>
            <a:off x="575352" y="6390615"/>
            <a:ext cx="701025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S</a:t>
            </a:r>
            <a:r>
              <a:rPr lang="en-PS" sz="1050" dirty="0">
                <a:solidFill>
                  <a:schemeClr val="bg1"/>
                </a:solidFill>
              </a:rPr>
              <a:t>ource:  </a:t>
            </a:r>
            <a:r>
              <a:rPr lang="en-PS" sz="105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https://www.ohchr.org/en/press-releases/2024/04/un-experts-deeply-concerned-over-scholasticide-gaza</a:t>
            </a:r>
            <a:r>
              <a:rPr lang="en-PS" sz="105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79362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0B45B-3F58-B44E-B3B9-19F202683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9144000" cy="1325563"/>
          </a:xfrm>
          <a:solidFill>
            <a:srgbClr val="02AA9E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How to help Palestinian Academia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198BC-BAB0-724D-8A94-B42AC8493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177" y="2004865"/>
            <a:ext cx="6047874" cy="3403584"/>
          </a:xfrm>
        </p:spPr>
        <p:txBody>
          <a:bodyPr>
            <a:noAutofit/>
          </a:bodyPr>
          <a:lstStyle/>
          <a:p>
            <a:pPr marL="0" indent="0" fontAlgn="base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400" b="1" dirty="0"/>
              <a:t>In many ways, such as: </a:t>
            </a:r>
          </a:p>
          <a:p>
            <a:pPr marL="0" indent="0" fontAlgn="base">
              <a:lnSpc>
                <a:spcPct val="110000"/>
              </a:lnSpc>
              <a:spcBef>
                <a:spcPts val="0"/>
              </a:spcBef>
              <a:buNone/>
            </a:pPr>
            <a:endParaRPr lang="en-US" sz="2400" b="1" dirty="0"/>
          </a:p>
          <a:p>
            <a:pPr fontAlgn="base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Advocacy and awareness</a:t>
            </a:r>
          </a:p>
          <a:p>
            <a:pPr fontAlgn="base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Combat discrimination and Bias</a:t>
            </a:r>
          </a:p>
          <a:p>
            <a:pPr fontAlgn="base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Resources and Funding </a:t>
            </a:r>
          </a:p>
          <a:p>
            <a:pPr fontAlgn="base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Open Access Publications</a:t>
            </a:r>
          </a:p>
          <a:p>
            <a:pPr fontAlgn="base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Joint research projects</a:t>
            </a:r>
          </a:p>
          <a:p>
            <a:pPr fontAlgn="base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Cash to students/universities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23F0A2-43B2-C068-B83C-E58796802608}"/>
              </a:ext>
            </a:extLst>
          </p:cNvPr>
          <p:cNvSpPr txBox="1"/>
          <p:nvPr/>
        </p:nvSpPr>
        <p:spPr>
          <a:xfrm>
            <a:off x="3160643" y="65598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57CC7-ED37-6614-8342-3C3F1D2234F8}"/>
              </a:ext>
            </a:extLst>
          </p:cNvPr>
          <p:cNvSpPr txBox="1"/>
          <p:nvPr/>
        </p:nvSpPr>
        <p:spPr>
          <a:xfrm>
            <a:off x="449177" y="1443509"/>
            <a:ext cx="9015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69300"/>
                </a:solidFill>
              </a:rPr>
              <a:t>Priority to Gaza and Jerusalem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AC73D5-5EBB-5756-DF76-9E2EA07ABB11}"/>
              </a:ext>
            </a:extLst>
          </p:cNvPr>
          <p:cNvSpPr txBox="1"/>
          <p:nvPr/>
        </p:nvSpPr>
        <p:spPr>
          <a:xfrm>
            <a:off x="0" y="93928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كيف تدعم </a:t>
            </a:r>
            <a:r>
              <a:rPr lang="ar-SA" sz="24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الأكاديميا</a:t>
            </a:r>
            <a:r>
              <a:rPr lang="ar-SA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في فلسطين</a:t>
            </a:r>
            <a:endParaRPr lang="en-PS" sz="24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0C8913-D32E-0FD7-F050-B422F17C0D70}"/>
              </a:ext>
            </a:extLst>
          </p:cNvPr>
          <p:cNvSpPr txBox="1"/>
          <p:nvPr/>
        </p:nvSpPr>
        <p:spPr>
          <a:xfrm>
            <a:off x="4957008" y="2645989"/>
            <a:ext cx="4588042" cy="2509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Joint PhD supervision</a:t>
            </a:r>
          </a:p>
          <a:p>
            <a:pPr fontAlgn="base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Promote Palestinian researchers</a:t>
            </a:r>
          </a:p>
          <a:p>
            <a:pPr fontAlgn="base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Invite us to chair events </a:t>
            </a:r>
          </a:p>
          <a:p>
            <a:pPr fontAlgn="base">
              <a:lnSpc>
                <a:spcPct val="110000"/>
              </a:lnSpc>
            </a:pPr>
            <a:r>
              <a:rPr lang="en-US" sz="2400" b="1" dirty="0"/>
              <a:t>Scholarships and Exchanges</a:t>
            </a:r>
          </a:p>
          <a:p>
            <a:pPr fontAlgn="base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Research visits</a:t>
            </a:r>
          </a:p>
          <a:p>
            <a:pPr fontAlgn="base">
              <a:lnSpc>
                <a:spcPct val="110000"/>
              </a:lnSpc>
              <a:spcBef>
                <a:spcPts val="0"/>
              </a:spcBef>
            </a:pPr>
            <a:r>
              <a:rPr lang="en-US" sz="2400" b="1" dirty="0"/>
              <a:t>Teaching visits</a:t>
            </a:r>
            <a:endParaRPr lang="en-P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8A6737-C6F9-D337-E0DF-21B5B653D4C5}"/>
              </a:ext>
            </a:extLst>
          </p:cNvPr>
          <p:cNvSpPr txBox="1"/>
          <p:nvPr/>
        </p:nvSpPr>
        <p:spPr>
          <a:xfrm>
            <a:off x="0" y="5672210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S" sz="2800" b="1" dirty="0">
                <a:solidFill>
                  <a:srgbClr val="C00000"/>
                </a:solidFill>
              </a:rPr>
              <a:t>Supporting and </a:t>
            </a:r>
            <a:r>
              <a:rPr lang="en-US" sz="2800" b="1" dirty="0">
                <a:solidFill>
                  <a:srgbClr val="C00000"/>
                </a:solidFill>
              </a:rPr>
              <a:t>cooperating</a:t>
            </a:r>
            <a:r>
              <a:rPr lang="en-PS" sz="2800" b="1" dirty="0">
                <a:solidFill>
                  <a:srgbClr val="C00000"/>
                </a:solidFill>
              </a:rPr>
              <a:t> with Palestinians is good </a:t>
            </a:r>
          </a:p>
          <a:p>
            <a:pPr algn="ctr"/>
            <a:r>
              <a:rPr lang="en-PS" sz="2800" b="1" dirty="0">
                <a:solidFill>
                  <a:srgbClr val="C00000"/>
                </a:solidFill>
              </a:rPr>
              <a:t>they are </a:t>
            </a:r>
            <a:r>
              <a:rPr lang="en-US" sz="2800" b="1" dirty="0">
                <a:solidFill>
                  <a:srgbClr val="C00000"/>
                </a:solidFill>
              </a:rPr>
              <a:t>Passionate, Smart  and hardworking ;-)</a:t>
            </a:r>
          </a:p>
        </p:txBody>
      </p:sp>
    </p:spTree>
    <p:extLst>
      <p:ext uri="{BB962C8B-B14F-4D97-AF65-F5344CB8AC3E}">
        <p14:creationId xmlns:p14="http://schemas.microsoft.com/office/powerpoint/2010/main" val="8448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74E0D0-79FD-6688-5D14-C2C5636540BD}"/>
              </a:ext>
            </a:extLst>
          </p:cNvPr>
          <p:cNvSpPr txBox="1"/>
          <p:nvPr/>
        </p:nvSpPr>
        <p:spPr>
          <a:xfrm>
            <a:off x="3470030" y="2844225"/>
            <a:ext cx="1896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S" sz="3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47840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3122</TotalTime>
  <Words>924</Words>
  <Application>Microsoft Macintosh PowerPoint</Application>
  <PresentationFormat>On-screen Show (4:3)</PresentationFormat>
  <Paragraphs>165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A_Nefel_Sereke_Qelew</vt:lpstr>
      <vt:lpstr>Arial</vt:lpstr>
      <vt:lpstr>Calibri</vt:lpstr>
      <vt:lpstr>Calibri Light</vt:lpstr>
      <vt:lpstr>Google Sans</vt:lpstr>
      <vt:lpstr>Roboto</vt:lpstr>
      <vt:lpstr>Söhne</vt:lpstr>
      <vt:lpstr>system-ui</vt:lpstr>
      <vt:lpstr>Wingdings</vt:lpstr>
      <vt:lpstr>Office Theme</vt:lpstr>
      <vt:lpstr>Stories of  Research and Education under Israeli Occupation</vt:lpstr>
      <vt:lpstr>Content</vt:lpstr>
      <vt:lpstr>PowerPoint Presentation</vt:lpstr>
      <vt:lpstr>Cannot recruit external professors</vt:lpstr>
      <vt:lpstr>Resource Limitations No Research Funding programs</vt:lpstr>
      <vt:lpstr>Restrictions on Movement</vt:lpstr>
      <vt:lpstr>Restrictions on Movement</vt:lpstr>
      <vt:lpstr>When traveling for conferences and meetings</vt:lpstr>
      <vt:lpstr>Academic Freedom</vt:lpstr>
      <vt:lpstr>Academic Brain Drain</vt:lpstr>
      <vt:lpstr>PowerPoint Presentation</vt:lpstr>
      <vt:lpstr>How to help Palestinian Academia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Science Research  under Occupation</dc:title>
  <dc:creator>Mustafa Jarrar</dc:creator>
  <cp:lastModifiedBy>Mustafa I Jarrar</cp:lastModifiedBy>
  <cp:revision>54</cp:revision>
  <dcterms:created xsi:type="dcterms:W3CDTF">2018-11-09T20:03:06Z</dcterms:created>
  <dcterms:modified xsi:type="dcterms:W3CDTF">2024-04-24T17:48:06Z</dcterms:modified>
</cp:coreProperties>
</file>